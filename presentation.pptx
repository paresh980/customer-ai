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6769427"/>
            <a:ext cx="20088393" cy="199470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848141"/>
            <a:ext cx="20088393" cy="9423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848141"/>
            <a:ext cx="20088393" cy="942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5706" y="1743402"/>
            <a:ext cx="20080605" cy="3793490"/>
          </a:xfrm>
          <a:custGeom>
            <a:avLst/>
            <a:gdLst/>
            <a:ahLst/>
            <a:cxnLst/>
            <a:rect l="l" t="t" r="r" b="b"/>
            <a:pathLst>
              <a:path w="20080605" h="3793490">
                <a:moveTo>
                  <a:pt x="20080541" y="3793078"/>
                </a:moveTo>
                <a:lnTo>
                  <a:pt x="0" y="379307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793078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80029" y="3985214"/>
            <a:ext cx="2939415" cy="47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ACFB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ACFB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ACFB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ACFB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5825" y="877979"/>
            <a:ext cx="10008099" cy="869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ACFB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083736"/>
            <a:ext cx="20088860" cy="549910"/>
            <a:chOff x="15706" y="1083736"/>
            <a:chExt cx="20088860" cy="549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083736"/>
              <a:ext cx="20088393" cy="5497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083736"/>
              <a:ext cx="20088393" cy="54972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5706" y="4774723"/>
            <a:ext cx="20088860" cy="471805"/>
            <a:chOff x="15706" y="4774723"/>
            <a:chExt cx="20088860" cy="47180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4774723"/>
              <a:ext cx="20088393" cy="4711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774723"/>
              <a:ext cx="20088393" cy="47118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98054" y="5795635"/>
            <a:ext cx="4209295" cy="2513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89316" y="5764222"/>
            <a:ext cx="4303533" cy="28271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5706" y="5717103"/>
            <a:ext cx="20088860" cy="393065"/>
            <a:chOff x="15706" y="5717103"/>
            <a:chExt cx="20088860" cy="39306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43402" y="5732809"/>
              <a:ext cx="4209295" cy="3141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5717103"/>
              <a:ext cx="20088393" cy="39265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5706" y="6329650"/>
            <a:ext cx="20088860" cy="393065"/>
            <a:chOff x="15706" y="6329650"/>
            <a:chExt cx="20088860" cy="39306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6" y="6329650"/>
              <a:ext cx="20088393" cy="3926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06" y="6329650"/>
              <a:ext cx="20088393" cy="392658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15706" y="6926490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564538" y="6828060"/>
            <a:ext cx="624014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E9E9E9"/>
                </a:solidFill>
                <a:latin typeface="Arial MT"/>
                <a:cs typeface="Arial MT"/>
              </a:rPr>
              <a:t>manually.</a:t>
            </a:r>
            <a:r>
              <a:rPr dirty="0" sz="2950" spc="39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2950" spc="100">
                <a:solidFill>
                  <a:srgbClr val="DFDFDF"/>
                </a:solidFill>
                <a:latin typeface="Arial MT"/>
                <a:cs typeface="Arial MT"/>
              </a:rPr>
              <a:t>It's</a:t>
            </a:r>
            <a:r>
              <a:rPr dirty="0" sz="2950" spc="3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FDFDF"/>
                </a:solidFill>
                <a:latin typeface="Arial MT"/>
                <a:cs typeface="Arial MT"/>
              </a:rPr>
              <a:t>slow</a:t>
            </a:r>
            <a:r>
              <a:rPr dirty="0" sz="2950" spc="484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FDFDF"/>
                </a:solidFill>
                <a:latin typeface="Arial MT"/>
                <a:cs typeface="Arial MT"/>
              </a:rPr>
              <a:t>and</a:t>
            </a:r>
            <a:r>
              <a:rPr dirty="0" sz="2950" spc="3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E1E1E1"/>
                </a:solidFill>
                <a:latin typeface="Arial MT"/>
                <a:cs typeface="Arial MT"/>
              </a:rPr>
              <a:t>hard</a:t>
            </a:r>
            <a:r>
              <a:rPr dirty="0" sz="2950" spc="32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DDDDDD"/>
                </a:solidFill>
                <a:latin typeface="Arial MT"/>
                <a:cs typeface="Arial MT"/>
              </a:rPr>
              <a:t>to</a:t>
            </a:r>
            <a:r>
              <a:rPr dirty="0" sz="2950" spc="30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DFDFDF"/>
                </a:solidFill>
                <a:latin typeface="Arial MT"/>
                <a:cs typeface="Arial MT"/>
              </a:rPr>
              <a:t>stay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903574" y="6778978"/>
            <a:ext cx="6323330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20">
                <a:solidFill>
                  <a:srgbClr val="DDDDDD"/>
                </a:solidFill>
                <a:latin typeface="Arial MT"/>
                <a:cs typeface="Arial MT"/>
              </a:rPr>
              <a:t>text</a:t>
            </a:r>
            <a:r>
              <a:rPr dirty="0" sz="3350" spc="-12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350" spc="-130">
                <a:solidFill>
                  <a:srgbClr val="E2E2E2"/>
                </a:solidFill>
                <a:latin typeface="Arial MT"/>
                <a:cs typeface="Arial MT"/>
              </a:rPr>
              <a:t>and</a:t>
            </a:r>
            <a:r>
              <a:rPr dirty="0" sz="3350" spc="-10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350" spc="-60">
                <a:solidFill>
                  <a:srgbClr val="E1E1E1"/>
                </a:solidFill>
                <a:latin typeface="Arial MT"/>
                <a:cs typeface="Arial MT"/>
              </a:rPr>
              <a:t>classifies</a:t>
            </a:r>
            <a:r>
              <a:rPr dirty="0" sz="3350" spc="-1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3350" spc="-70">
                <a:solidFill>
                  <a:srgbClr val="DFDFDF"/>
                </a:solidFill>
                <a:latin typeface="Arial MT"/>
                <a:cs typeface="Arial MT"/>
              </a:rPr>
              <a:t>them</a:t>
            </a:r>
            <a:r>
              <a:rPr dirty="0" sz="3350" spc="-1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350" spc="-20">
                <a:solidFill>
                  <a:srgbClr val="DDDDDD"/>
                </a:solidFill>
                <a:latin typeface="Arial MT"/>
                <a:cs typeface="Arial MT"/>
              </a:rPr>
              <a:t>into</a:t>
            </a:r>
            <a:r>
              <a:rPr dirty="0" sz="3350" spc="-21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350" spc="-40">
                <a:solidFill>
                  <a:srgbClr val="E8E8E8"/>
                </a:solidFill>
                <a:latin typeface="Arial MT"/>
                <a:cs typeface="Arial MT"/>
              </a:rPr>
              <a:t>helpful</a:t>
            </a:r>
            <a:endParaRPr sz="33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706" y="7523331"/>
            <a:ext cx="20088860" cy="393065"/>
            <a:chOff x="15706" y="7523331"/>
            <a:chExt cx="20088860" cy="39306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135786" y="7601863"/>
              <a:ext cx="4209295" cy="251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7751" y="7523331"/>
              <a:ext cx="4209295" cy="3612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706" y="7523331"/>
              <a:ext cx="20088393" cy="3926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083736"/>
            <a:ext cx="20088860" cy="549910"/>
            <a:chOff x="15706" y="1083736"/>
            <a:chExt cx="20088860" cy="549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083736"/>
              <a:ext cx="20088393" cy="5497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083736"/>
              <a:ext cx="20088393" cy="54972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5811341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4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3141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20590" y="5708984"/>
            <a:ext cx="1575435" cy="594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700" spc="150">
                <a:solidFill>
                  <a:srgbClr val="FFFFFF"/>
                </a:solidFill>
                <a:latin typeface="Arial MT"/>
                <a:cs typeface="Arial MT"/>
              </a:rPr>
              <a:t>Urgent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02285" y="5676263"/>
            <a:ext cx="1303020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26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72506" y="5659902"/>
            <a:ext cx="159575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185">
                <a:solidFill>
                  <a:srgbClr val="FFFFFF"/>
                </a:solidFill>
                <a:latin typeface="Calibri"/>
                <a:cs typeface="Calibri"/>
              </a:rPr>
              <a:t>Closed</a:t>
            </a:r>
            <a:endParaRPr sz="4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706" y="6690895"/>
            <a:ext cx="20088860" cy="393065"/>
            <a:chOff x="15706" y="6690895"/>
            <a:chExt cx="20088860" cy="39306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4409" y="6690895"/>
              <a:ext cx="4209295" cy="23559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22591" y="6769427"/>
              <a:ext cx="4209295" cy="2513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2216" y="6989315"/>
              <a:ext cx="2701488" cy="942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3068" y="6863665"/>
              <a:ext cx="4209295" cy="2198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6690895"/>
              <a:ext cx="20088393" cy="392658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15706" y="7287736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581618" y="7140223"/>
            <a:ext cx="445579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90">
                <a:solidFill>
                  <a:srgbClr val="E6E6E6"/>
                </a:solidFill>
                <a:latin typeface="Arial MT"/>
                <a:cs typeface="Arial MT"/>
              </a:rPr>
              <a:t>emergencies,</a:t>
            </a:r>
            <a:r>
              <a:rPr dirty="0" sz="3350" spc="2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3350" spc="-80">
                <a:solidFill>
                  <a:srgbClr val="DDDDDD"/>
                </a:solidFill>
                <a:latin typeface="Arial MT"/>
                <a:cs typeface="Arial MT"/>
              </a:rPr>
              <a:t>like</a:t>
            </a:r>
            <a:r>
              <a:rPr dirty="0" sz="3350" spc="-15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350" spc="-135">
                <a:solidFill>
                  <a:srgbClr val="E1E1E1"/>
                </a:solidFill>
                <a:latin typeface="Arial MT"/>
                <a:cs typeface="Arial MT"/>
              </a:rPr>
              <a:t>broken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95558" y="7140223"/>
            <a:ext cx="389826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55">
                <a:solidFill>
                  <a:srgbClr val="E6E6E6"/>
                </a:solidFill>
                <a:latin typeface="Arial MT"/>
                <a:cs typeface="Arial MT"/>
              </a:rPr>
              <a:t>requests</a:t>
            </a:r>
            <a:r>
              <a:rPr dirty="0" sz="3350" spc="-15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3350" spc="-40">
                <a:solidFill>
                  <a:srgbClr val="E4E4E4"/>
                </a:solidFill>
                <a:latin typeface="Arial MT"/>
                <a:cs typeface="Arial MT"/>
              </a:rPr>
              <a:t>that</a:t>
            </a:r>
            <a:r>
              <a:rPr dirty="0" sz="3350" spc="-13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350" spc="-75">
                <a:solidFill>
                  <a:srgbClr val="DDDDDD"/>
                </a:solidFill>
                <a:latin typeface="Arial MT"/>
                <a:cs typeface="Arial MT"/>
              </a:rPr>
              <a:t>need</a:t>
            </a:r>
            <a:r>
              <a:rPr dirty="0" sz="3350" spc="-15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350" spc="-330">
                <a:solidFill>
                  <a:srgbClr val="E2E2E2"/>
                </a:solidFill>
                <a:latin typeface="Arial MT"/>
                <a:cs typeface="Arial MT"/>
              </a:rPr>
              <a:t>an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233317" y="7140223"/>
            <a:ext cx="406336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10">
                <a:solidFill>
                  <a:srgbClr val="E4E4E4"/>
                </a:solidFill>
                <a:latin typeface="Arial MT"/>
                <a:cs typeface="Arial MT"/>
              </a:rPr>
              <a:t>the</a:t>
            </a:r>
            <a:r>
              <a:rPr dirty="0" sz="3350" spc="-15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350" spc="-75">
                <a:solidFill>
                  <a:srgbClr val="E4E4E4"/>
                </a:solidFill>
                <a:latin typeface="Arial MT"/>
                <a:cs typeface="Arial MT"/>
              </a:rPr>
              <a:t>customer</a:t>
            </a:r>
            <a:r>
              <a:rPr dirty="0" sz="3350" spc="-3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E2E2E2"/>
                </a:solidFill>
                <a:latin typeface="Arial MT"/>
                <a:cs typeface="Arial MT"/>
              </a:rPr>
              <a:t>is</a:t>
            </a:r>
            <a:r>
              <a:rPr dirty="0" sz="3350" spc="-204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350" spc="-140">
                <a:solidFill>
                  <a:srgbClr val="EDEDED"/>
                </a:solidFill>
                <a:latin typeface="Arial MT"/>
                <a:cs typeface="Arial MT"/>
              </a:rPr>
              <a:t>happy.</a:t>
            </a:r>
            <a:endParaRPr sz="33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706" y="7915989"/>
            <a:ext cx="20088860" cy="314325"/>
            <a:chOff x="15706" y="7915989"/>
            <a:chExt cx="20088860" cy="314325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81882" y="7947402"/>
              <a:ext cx="3204090" cy="9423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76677" y="8135878"/>
              <a:ext cx="4209295" cy="9423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99908" y="7947402"/>
              <a:ext cx="4209295" cy="28271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7915989"/>
              <a:ext cx="20088393" cy="3141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75">
                <a:solidFill>
                  <a:srgbClr val="FFFFFF"/>
                </a:solidFill>
              </a:rPr>
              <a:t>OpenAl</a:t>
            </a:r>
            <a:r>
              <a:rPr dirty="0" sz="2950" spc="240">
                <a:solidFill>
                  <a:srgbClr val="FFFFFF"/>
                </a:solidFill>
              </a:rPr>
              <a:t> </a:t>
            </a:r>
            <a:r>
              <a:rPr dirty="0" sz="2950" spc="80">
                <a:solidFill>
                  <a:srgbClr val="FFFFFF"/>
                </a:solidFill>
              </a:rPr>
              <a:t>Whisper</a:t>
            </a:r>
            <a:endParaRPr sz="2950"/>
          </a:p>
        </p:txBody>
      </p:sp>
      <p:sp>
        <p:nvSpPr>
          <p:cNvPr id="3" name="object 3"/>
          <p:cNvSpPr/>
          <p:nvPr/>
        </p:nvSpPr>
        <p:spPr>
          <a:xfrm>
            <a:off x="15706" y="5591452"/>
            <a:ext cx="20080605" cy="1123315"/>
          </a:xfrm>
          <a:custGeom>
            <a:avLst/>
            <a:gdLst/>
            <a:ahLst/>
            <a:cxnLst/>
            <a:rect l="l" t="t" r="r" b="b"/>
            <a:pathLst>
              <a:path w="20080605" h="1123315">
                <a:moveTo>
                  <a:pt x="20080541" y="1123002"/>
                </a:moveTo>
                <a:lnTo>
                  <a:pt x="0" y="112300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123002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35983" y="5376533"/>
            <a:ext cx="7936865" cy="121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810">
              <a:lnSpc>
                <a:spcPct val="113500"/>
              </a:lnSpc>
              <a:spcBef>
                <a:spcPts val="95"/>
              </a:spcBef>
            </a:pPr>
            <a:r>
              <a:rPr dirty="0" sz="3450" spc="-155">
                <a:solidFill>
                  <a:srgbClr val="E4E4E4"/>
                </a:solidFill>
                <a:latin typeface="Arial MT"/>
                <a:cs typeface="Arial MT"/>
              </a:rPr>
              <a:t>Whisper</a:t>
            </a:r>
            <a:r>
              <a:rPr dirty="0" sz="3450" spc="-9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D8D8D8"/>
                </a:solidFill>
                <a:latin typeface="Arial MT"/>
                <a:cs typeface="Arial MT"/>
              </a:rPr>
              <a:t>is</a:t>
            </a:r>
            <a:r>
              <a:rPr dirty="0" sz="3450" spc="-13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3450" spc="-540">
                <a:solidFill>
                  <a:srgbClr val="DBDBDB"/>
                </a:solidFill>
                <a:latin typeface="Arial MT"/>
                <a:cs typeface="Arial MT"/>
              </a:rPr>
              <a:t>a</a:t>
            </a:r>
            <a:r>
              <a:rPr dirty="0" sz="3450" spc="14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3450" spc="-85">
                <a:solidFill>
                  <a:srgbClr val="E2E2E2"/>
                </a:solidFill>
                <a:latin typeface="Arial MT"/>
                <a:cs typeface="Arial MT"/>
              </a:rPr>
              <a:t>state-</a:t>
            </a:r>
            <a:r>
              <a:rPr dirty="0" sz="3450" spc="-80">
                <a:solidFill>
                  <a:srgbClr val="E2E2E2"/>
                </a:solidFill>
                <a:latin typeface="Arial MT"/>
                <a:cs typeface="Arial MT"/>
              </a:rPr>
              <a:t>of-</a:t>
            </a:r>
            <a:r>
              <a:rPr dirty="0" sz="3450" spc="-85">
                <a:solidFill>
                  <a:srgbClr val="E2E2E2"/>
                </a:solidFill>
                <a:latin typeface="Arial MT"/>
                <a:cs typeface="Arial MT"/>
              </a:rPr>
              <a:t>the-</a:t>
            </a:r>
            <a:r>
              <a:rPr dirty="0" sz="3450">
                <a:solidFill>
                  <a:srgbClr val="E2E2E2"/>
                </a:solidFill>
                <a:latin typeface="Arial MT"/>
                <a:cs typeface="Arial MT"/>
              </a:rPr>
              <a:t>art</a:t>
            </a:r>
            <a:r>
              <a:rPr dirty="0" sz="3450" spc="3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450" spc="-215">
                <a:solidFill>
                  <a:srgbClr val="D6D6D6"/>
                </a:solidFill>
                <a:latin typeface="Arial MT"/>
                <a:cs typeface="Arial MT"/>
              </a:rPr>
              <a:t>Al</a:t>
            </a:r>
            <a:r>
              <a:rPr dirty="0" sz="3450" spc="-25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3450" spc="-175">
                <a:solidFill>
                  <a:srgbClr val="E4E4E4"/>
                </a:solidFill>
                <a:latin typeface="Arial MT"/>
                <a:cs typeface="Arial MT"/>
              </a:rPr>
              <a:t>model</a:t>
            </a:r>
            <a:r>
              <a:rPr dirty="0" sz="3450" spc="-5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450" spc="-20">
                <a:solidFill>
                  <a:srgbClr val="DDDDDD"/>
                </a:solidFill>
                <a:latin typeface="Arial MT"/>
                <a:cs typeface="Arial MT"/>
              </a:rPr>
              <a:t>that </a:t>
            </a:r>
            <a:r>
              <a:rPr dirty="0" sz="3450" spc="-114">
                <a:solidFill>
                  <a:srgbClr val="DFDFDF"/>
                </a:solidFill>
                <a:latin typeface="Arial MT"/>
                <a:cs typeface="Arial MT"/>
              </a:rPr>
              <a:t>converts</a:t>
            </a:r>
            <a:r>
              <a:rPr dirty="0" sz="3450" spc="-9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450" spc="-155">
                <a:solidFill>
                  <a:srgbClr val="E4E4E4"/>
                </a:solidFill>
                <a:latin typeface="Arial MT"/>
                <a:cs typeface="Arial MT"/>
              </a:rPr>
              <a:t>speech</a:t>
            </a:r>
            <a:r>
              <a:rPr dirty="0" sz="3450" spc="-8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450" spc="-100">
                <a:solidFill>
                  <a:srgbClr val="DDDDDD"/>
                </a:solidFill>
                <a:latin typeface="Arial MT"/>
                <a:cs typeface="Arial MT"/>
              </a:rPr>
              <a:t>into</a:t>
            </a:r>
            <a:r>
              <a:rPr dirty="0" sz="3450" spc="-14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450" spc="-85">
                <a:solidFill>
                  <a:srgbClr val="E6E6E6"/>
                </a:solidFill>
                <a:latin typeface="Arial MT"/>
                <a:cs typeface="Arial MT"/>
              </a:rPr>
              <a:t>highly</a:t>
            </a:r>
            <a:r>
              <a:rPr dirty="0" sz="3450" spc="-11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3450" spc="-135">
                <a:solidFill>
                  <a:srgbClr val="E4E4E4"/>
                </a:solidFill>
                <a:latin typeface="Arial MT"/>
                <a:cs typeface="Arial MT"/>
              </a:rPr>
              <a:t>accurate</a:t>
            </a:r>
            <a:r>
              <a:rPr dirty="0" sz="3450" spc="1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450" spc="-55">
                <a:solidFill>
                  <a:srgbClr val="E4E4E4"/>
                </a:solidFill>
                <a:latin typeface="Arial MT"/>
                <a:cs typeface="Arial MT"/>
              </a:rPr>
              <a:t>written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706" y="8999725"/>
            <a:ext cx="20088860" cy="110489"/>
            <a:chOff x="15706" y="8999725"/>
            <a:chExt cx="20088860" cy="11048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8999725"/>
              <a:ext cx="20088393" cy="1099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8999725"/>
              <a:ext cx="20088393" cy="10994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5706" y="9533741"/>
            <a:ext cx="20088860" cy="141605"/>
            <a:chOff x="15706" y="9533741"/>
            <a:chExt cx="20088860" cy="14160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9533741"/>
              <a:ext cx="20088393" cy="1413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9533741"/>
              <a:ext cx="20088393" cy="1413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083736"/>
            <a:ext cx="20088860" cy="549910"/>
            <a:chOff x="15706" y="1083736"/>
            <a:chExt cx="20088860" cy="549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083736"/>
              <a:ext cx="20088393" cy="5497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083736"/>
              <a:ext cx="20088393" cy="54972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4460597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706" y="5481508"/>
            <a:ext cx="20080605" cy="416559"/>
          </a:xfrm>
          <a:custGeom>
            <a:avLst/>
            <a:gdLst/>
            <a:ahLst/>
            <a:cxnLst/>
            <a:rect l="l" t="t" r="r" b="b"/>
            <a:pathLst>
              <a:path w="20080605" h="416560">
                <a:moveTo>
                  <a:pt x="20080541" y="416217"/>
                </a:moveTo>
                <a:lnTo>
                  <a:pt x="0" y="41621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16217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706" y="6439594"/>
            <a:ext cx="20080605" cy="479425"/>
          </a:xfrm>
          <a:custGeom>
            <a:avLst/>
            <a:gdLst/>
            <a:ahLst/>
            <a:cxnLst/>
            <a:rect l="l" t="t" r="r" b="b"/>
            <a:pathLst>
              <a:path w="20080605" h="479425">
                <a:moveTo>
                  <a:pt x="20080541" y="479043"/>
                </a:moveTo>
                <a:lnTo>
                  <a:pt x="0" y="47904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79043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16828" y="4377872"/>
            <a:ext cx="3305810" cy="24720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10">
                <a:solidFill>
                  <a:srgbClr val="FFFFFF"/>
                </a:solidFill>
                <a:latin typeface="Arial MT"/>
                <a:cs typeface="Arial MT"/>
              </a:rPr>
              <a:t>Urgent</a:t>
            </a:r>
            <a:r>
              <a:rPr dirty="0" sz="29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120">
                <a:solidFill>
                  <a:srgbClr val="FFFFFF"/>
                </a:solidFill>
                <a:latin typeface="Arial MT"/>
                <a:cs typeface="Arial MT"/>
              </a:rPr>
              <a:t>Keywords:</a:t>
            </a:r>
            <a:endParaRPr sz="2950">
              <a:latin typeface="Arial MT"/>
              <a:cs typeface="Arial MT"/>
            </a:endParaRPr>
          </a:p>
          <a:p>
            <a:pPr marL="15875" marR="5080" indent="-635">
              <a:lnSpc>
                <a:spcPct val="220100"/>
              </a:lnSpc>
              <a:spcBef>
                <a:spcPts val="125"/>
              </a:spcBef>
            </a:pPr>
            <a:r>
              <a:rPr dirty="0" sz="2950" spc="100">
                <a:solidFill>
                  <a:srgbClr val="FFFFFF"/>
                </a:solidFill>
                <a:latin typeface="Arial MT"/>
                <a:cs typeface="Arial MT"/>
              </a:rPr>
              <a:t>Closed</a:t>
            </a:r>
            <a:r>
              <a:rPr dirty="0" sz="29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120">
                <a:solidFill>
                  <a:srgbClr val="FFFFFF"/>
                </a:solidFill>
                <a:latin typeface="Arial MT"/>
                <a:cs typeface="Arial MT"/>
              </a:rPr>
              <a:t>Keywords: </a:t>
            </a:r>
            <a:r>
              <a:rPr dirty="0" sz="2950" spc="50">
                <a:solidFill>
                  <a:srgbClr val="FFFFFF"/>
                </a:solidFill>
                <a:latin typeface="Arial MT"/>
                <a:cs typeface="Arial MT"/>
              </a:rPr>
              <a:t>Open</a:t>
            </a:r>
            <a:r>
              <a:rPr dirty="0" sz="29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120">
                <a:solidFill>
                  <a:srgbClr val="FFFFFF"/>
                </a:solidFill>
                <a:latin typeface="Arial MT"/>
                <a:cs typeface="Arial MT"/>
              </a:rPr>
              <a:t>Keywords:</a:t>
            </a:r>
            <a:endParaRPr sz="29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706" y="7931695"/>
            <a:ext cx="20088860" cy="393065"/>
            <a:chOff x="15706" y="7931695"/>
            <a:chExt cx="20088860" cy="39306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1102" y="7978814"/>
              <a:ext cx="4209295" cy="2827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0799" y="7947402"/>
              <a:ext cx="4711898" cy="3141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49538" y="7978814"/>
              <a:ext cx="4492009" cy="2827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7931695"/>
              <a:ext cx="20088393" cy="3926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1099442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4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40"/>
              </a:spcBef>
            </a:pPr>
            <a:r>
              <a:rPr dirty="0" spc="-365">
                <a:solidFill>
                  <a:srgbClr val="A5FF00"/>
                </a:solidFill>
              </a:rPr>
              <a:t>STEP</a:t>
            </a:r>
            <a:r>
              <a:rPr dirty="0" spc="635">
                <a:solidFill>
                  <a:srgbClr val="A5FF00"/>
                </a:solidFill>
              </a:rPr>
              <a:t> </a:t>
            </a:r>
            <a:r>
              <a:rPr dirty="0">
                <a:solidFill>
                  <a:srgbClr val="AEF905"/>
                </a:solidFill>
              </a:rPr>
              <a:t>4:</a:t>
            </a:r>
            <a:r>
              <a:rPr dirty="0" spc="270">
                <a:solidFill>
                  <a:srgbClr val="AEF905"/>
                </a:solidFill>
              </a:rPr>
              <a:t> </a:t>
            </a:r>
            <a:r>
              <a:rPr dirty="0">
                <a:solidFill>
                  <a:srgbClr val="A5FF00"/>
                </a:solidFill>
              </a:rPr>
              <a:t>SMART</a:t>
            </a:r>
            <a:r>
              <a:rPr dirty="0" spc="1019">
                <a:solidFill>
                  <a:srgbClr val="A5FF00"/>
                </a:solidFill>
              </a:rPr>
              <a:t> </a:t>
            </a:r>
            <a:r>
              <a:rPr dirty="0">
                <a:solidFill>
                  <a:srgbClr val="AAFF00"/>
                </a:solidFill>
              </a:rPr>
              <a:t>AI</a:t>
            </a:r>
            <a:r>
              <a:rPr dirty="0" spc="185">
                <a:solidFill>
                  <a:srgbClr val="AAFF00"/>
                </a:solidFill>
              </a:rPr>
              <a:t> </a:t>
            </a:r>
            <a:r>
              <a:rPr dirty="0" spc="-80">
                <a:solidFill>
                  <a:srgbClr val="ACFF0C"/>
                </a:solidFill>
              </a:rPr>
              <a:t>GUESSING</a:t>
            </a:r>
          </a:p>
        </p:txBody>
      </p:sp>
      <p:sp>
        <p:nvSpPr>
          <p:cNvPr id="4" name="object 4"/>
          <p:cNvSpPr/>
          <p:nvPr/>
        </p:nvSpPr>
        <p:spPr>
          <a:xfrm>
            <a:off x="15706" y="3109853"/>
            <a:ext cx="20080605" cy="165100"/>
          </a:xfrm>
          <a:custGeom>
            <a:avLst/>
            <a:gdLst/>
            <a:ahLst/>
            <a:cxnLst/>
            <a:rect l="l" t="t" r="r" b="b"/>
            <a:pathLst>
              <a:path w="20080605" h="165100">
                <a:moveTo>
                  <a:pt x="20080541" y="164916"/>
                </a:moveTo>
                <a:lnTo>
                  <a:pt x="0" y="16491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64916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73090" y="2968230"/>
            <a:ext cx="65151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225">
                <a:solidFill>
                  <a:srgbClr val="FFFFFF"/>
                </a:solidFill>
                <a:latin typeface="Consolas"/>
                <a:cs typeface="Consolas"/>
              </a:rPr>
              <a:t>.‹ace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706" y="428782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5706" y="4727604"/>
            <a:ext cx="20088860" cy="393065"/>
            <a:chOff x="15706" y="4727604"/>
            <a:chExt cx="20088860" cy="3930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10509" y="4868961"/>
              <a:ext cx="4193589" cy="1884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35786" y="4774723"/>
              <a:ext cx="4397771" cy="28271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4727604"/>
              <a:ext cx="20088393" cy="392658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15706" y="5324445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10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526701" y="4192015"/>
            <a:ext cx="7908290" cy="1511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35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dirty="0" sz="24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Thinking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0"/>
              </a:spcBef>
            </a:pPr>
            <a:endParaRPr sz="2450">
              <a:latin typeface="Arial MT"/>
              <a:cs typeface="Arial MT"/>
            </a:endParaRPr>
          </a:p>
          <a:p>
            <a:pPr marL="3483610">
              <a:lnSpc>
                <a:spcPct val="100000"/>
              </a:lnSpc>
            </a:pPr>
            <a:r>
              <a:rPr dirty="0" sz="2950" spc="120">
                <a:solidFill>
                  <a:srgbClr val="FFFFFF"/>
                </a:solidFill>
                <a:latin typeface="Arial MT"/>
                <a:cs typeface="Arial MT"/>
              </a:rPr>
              <a:t>Zero-</a:t>
            </a:r>
            <a:r>
              <a:rPr dirty="0" sz="2950" spc="130">
                <a:solidFill>
                  <a:srgbClr val="FFFFFF"/>
                </a:solidFill>
                <a:latin typeface="Arial MT"/>
                <a:cs typeface="Arial MT"/>
              </a:rPr>
              <a:t>Shot</a:t>
            </a:r>
            <a:r>
              <a:rPr dirty="0" sz="2950" spc="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12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endParaRPr sz="29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706" y="5921285"/>
            <a:ext cx="20088860" cy="377190"/>
            <a:chOff x="15706" y="5921285"/>
            <a:chExt cx="20088860" cy="37719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5921285"/>
              <a:ext cx="20088393" cy="3769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5921285"/>
              <a:ext cx="20088393" cy="376951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15706" y="6847958"/>
            <a:ext cx="20088860" cy="393065"/>
            <a:chOff x="15706" y="6847958"/>
            <a:chExt cx="20088860" cy="393065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33002" y="6847958"/>
              <a:ext cx="3471098" cy="3298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35786" y="6863665"/>
              <a:ext cx="4460597" cy="31412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6847958"/>
              <a:ext cx="20088393" cy="39265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5706" y="7444799"/>
            <a:ext cx="20088860" cy="393065"/>
            <a:chOff x="15706" y="7444799"/>
            <a:chExt cx="20088860" cy="39306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82256" y="7523331"/>
              <a:ext cx="4209295" cy="31412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38946" y="7523331"/>
              <a:ext cx="4209295" cy="2513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7444799"/>
              <a:ext cx="20088393" cy="392658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5706" y="8057346"/>
            <a:ext cx="20088860" cy="393065"/>
            <a:chOff x="15706" y="8057346"/>
            <a:chExt cx="20088860" cy="393065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706" y="8057346"/>
              <a:ext cx="20088393" cy="39265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706" y="8057346"/>
              <a:ext cx="20088393" cy="3926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1083736"/>
            <a:ext cx="20080605" cy="542290"/>
          </a:xfrm>
          <a:custGeom>
            <a:avLst/>
            <a:gdLst/>
            <a:ahLst/>
            <a:cxnLst/>
            <a:rect l="l" t="t" r="r" b="b"/>
            <a:pathLst>
              <a:path w="20080605" h="542289">
                <a:moveTo>
                  <a:pt x="20080541" y="541868"/>
                </a:moveTo>
                <a:lnTo>
                  <a:pt x="0" y="54186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41868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CLASSIFICATION</a:t>
            </a:r>
            <a:r>
              <a:rPr dirty="0" spc="390"/>
              <a:t> </a:t>
            </a:r>
            <a:r>
              <a:rPr dirty="0" spc="-85">
                <a:solidFill>
                  <a:srgbClr val="AFFF00"/>
                </a:solidFill>
              </a:rPr>
              <a:t>ACCURACY</a:t>
            </a:r>
          </a:p>
        </p:txBody>
      </p:sp>
      <p:sp>
        <p:nvSpPr>
          <p:cNvPr id="4" name="object 4"/>
          <p:cNvSpPr/>
          <p:nvPr/>
        </p:nvSpPr>
        <p:spPr>
          <a:xfrm>
            <a:off x="15706" y="4868961"/>
            <a:ext cx="20080605" cy="808990"/>
          </a:xfrm>
          <a:custGeom>
            <a:avLst/>
            <a:gdLst/>
            <a:ahLst/>
            <a:cxnLst/>
            <a:rect l="l" t="t" r="r" b="b"/>
            <a:pathLst>
              <a:path w="20080605" h="808989">
                <a:moveTo>
                  <a:pt x="20080541" y="808875"/>
                </a:moveTo>
                <a:lnTo>
                  <a:pt x="0" y="80887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08875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06" y="6125467"/>
            <a:ext cx="20080605" cy="808990"/>
          </a:xfrm>
          <a:custGeom>
            <a:avLst/>
            <a:gdLst/>
            <a:ahLst/>
            <a:cxnLst/>
            <a:rect l="l" t="t" r="r" b="b"/>
            <a:pathLst>
              <a:path w="20080605" h="808990">
                <a:moveTo>
                  <a:pt x="20080541" y="808875"/>
                </a:moveTo>
                <a:lnTo>
                  <a:pt x="0" y="80887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08875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59671" y="4989765"/>
            <a:ext cx="3803650" cy="1753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0"/>
              </a:spcBef>
            </a:pP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Rule-Based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10"/>
              </a:spcBef>
            </a:pPr>
            <a:endParaRPr sz="3100">
              <a:latin typeface="Arial MT"/>
              <a:cs typeface="Arial MT"/>
            </a:endParaRPr>
          </a:p>
          <a:p>
            <a:pPr algn="r" marR="43815">
              <a:lnSpc>
                <a:spcPct val="100000"/>
              </a:lnSpc>
            </a:pP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3100" spc="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31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(Zero-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Shot)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06" y="782175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F2A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55258" y="7725284"/>
            <a:ext cx="1777809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90">
                <a:solidFill>
                  <a:srgbClr val="8797A7"/>
                </a:solidFill>
                <a:latin typeface="Arial MT"/>
                <a:cs typeface="Arial MT"/>
              </a:rPr>
              <a:t>Rule</a:t>
            </a:r>
            <a:r>
              <a:rPr dirty="0" sz="2550" spc="-305">
                <a:solidFill>
                  <a:srgbClr val="8797A7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3A1B5"/>
                </a:solidFill>
                <a:latin typeface="Arial MT"/>
                <a:cs typeface="Arial MT"/>
              </a:rPr>
              <a:t>-based</a:t>
            </a:r>
            <a:r>
              <a:rPr dirty="0" sz="2550" spc="380">
                <a:solidFill>
                  <a:srgbClr val="93A1B5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39AAA"/>
                </a:solidFill>
                <a:latin typeface="Arial MT"/>
                <a:cs typeface="Arial MT"/>
              </a:rPr>
              <a:t>was</a:t>
            </a:r>
            <a:r>
              <a:rPr dirty="0" sz="2550" spc="290">
                <a:solidFill>
                  <a:srgbClr val="939AAA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AAAAA"/>
                </a:solidFill>
                <a:latin typeface="Arial MT"/>
                <a:cs typeface="Arial MT"/>
              </a:rPr>
              <a:t>perfect</a:t>
            </a:r>
            <a:r>
              <a:rPr dirty="0" sz="2550" spc="43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5A1B1"/>
                </a:solidFill>
                <a:latin typeface="Arial MT"/>
                <a:cs typeface="Arial MT"/>
              </a:rPr>
              <a:t>for</a:t>
            </a:r>
            <a:r>
              <a:rPr dirty="0" sz="2550" spc="430">
                <a:solidFill>
                  <a:srgbClr val="95A1B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79EB5"/>
                </a:solidFill>
                <a:latin typeface="Arial MT"/>
                <a:cs typeface="Arial MT"/>
              </a:rPr>
              <a:t>our</a:t>
            </a:r>
            <a:r>
              <a:rPr dirty="0" sz="2550" spc="355">
                <a:solidFill>
                  <a:srgbClr val="979EB5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A7A7A7"/>
                </a:solidFill>
                <a:latin typeface="Arial MT"/>
                <a:cs typeface="Arial MT"/>
              </a:rPr>
              <a:t>test</a:t>
            </a:r>
            <a:r>
              <a:rPr dirty="0" sz="2550" spc="409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AAAAA"/>
                </a:solidFill>
                <a:latin typeface="Arial MT"/>
                <a:cs typeface="Arial MT"/>
              </a:rPr>
              <a:t>samples,</a:t>
            </a:r>
            <a:r>
              <a:rPr dirty="0" sz="2550" spc="45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3A3A3"/>
                </a:solidFill>
                <a:latin typeface="Arial MT"/>
                <a:cs typeface="Arial MT"/>
              </a:rPr>
              <a:t>while</a:t>
            </a:r>
            <a:r>
              <a:rPr dirty="0" sz="2550" spc="30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AAAAA"/>
                </a:solidFill>
                <a:latin typeface="Arial MT"/>
                <a:cs typeface="Arial MT"/>
              </a:rPr>
              <a:t>the</a:t>
            </a:r>
            <a:r>
              <a:rPr dirty="0" sz="2550" spc="35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39EAF"/>
                </a:solidFill>
                <a:latin typeface="Arial MT"/>
                <a:cs typeface="Arial MT"/>
              </a:rPr>
              <a:t>AI</a:t>
            </a:r>
            <a:r>
              <a:rPr dirty="0" sz="2550" spc="100">
                <a:solidFill>
                  <a:srgbClr val="939EA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24B60"/>
                </a:solidFill>
                <a:latin typeface="Arial MT"/>
                <a:cs typeface="Arial MT"/>
              </a:rPr>
              <a:t>proved</a:t>
            </a:r>
            <a:r>
              <a:rPr dirty="0" sz="2550" spc="260">
                <a:solidFill>
                  <a:srgbClr val="424B60"/>
                </a:solidFill>
                <a:latin typeface="Arial MT"/>
                <a:cs typeface="Arial MT"/>
              </a:rPr>
              <a:t> </a:t>
            </a:r>
            <a:r>
              <a:rPr dirty="0" sz="2550" spc="105">
                <a:solidFill>
                  <a:srgbClr val="A0A0A0"/>
                </a:solidFill>
                <a:latin typeface="Arial MT"/>
                <a:cs typeface="Arial MT"/>
              </a:rPr>
              <a:t>it's</a:t>
            </a:r>
            <a:r>
              <a:rPr dirty="0" sz="2550" spc="200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748599"/>
                </a:solidFill>
                <a:latin typeface="Arial MT"/>
                <a:cs typeface="Arial MT"/>
              </a:rPr>
              <a:t>highly</a:t>
            </a:r>
            <a:r>
              <a:rPr dirty="0" sz="2550" spc="355">
                <a:solidFill>
                  <a:srgbClr val="74859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AA7B8"/>
                </a:solidFill>
                <a:latin typeface="Arial MT"/>
                <a:cs typeface="Arial MT"/>
              </a:rPr>
              <a:t>capable</a:t>
            </a:r>
            <a:r>
              <a:rPr dirty="0" sz="2550" spc="415">
                <a:solidFill>
                  <a:srgbClr val="9AA7B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59CAC"/>
                </a:solidFill>
                <a:latin typeface="Arial MT"/>
                <a:cs typeface="Arial MT"/>
              </a:rPr>
              <a:t>of</a:t>
            </a:r>
            <a:r>
              <a:rPr dirty="0" sz="2550" spc="250">
                <a:solidFill>
                  <a:srgbClr val="959CAC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AAAAA"/>
                </a:solidFill>
                <a:latin typeface="Arial MT"/>
                <a:cs typeface="Arial MT"/>
              </a:rPr>
              <a:t>understanding</a:t>
            </a:r>
            <a:r>
              <a:rPr dirty="0" sz="2550" spc="54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39EB1"/>
                </a:solidFill>
                <a:latin typeface="Arial MT"/>
                <a:cs typeface="Arial MT"/>
              </a:rPr>
              <a:t>general</a:t>
            </a:r>
            <a:r>
              <a:rPr dirty="0" sz="2550" spc="385">
                <a:solidFill>
                  <a:srgbClr val="939EB1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AAAAAA"/>
                </a:solidFill>
                <a:latin typeface="Arial MT"/>
                <a:cs typeface="Arial MT"/>
              </a:rPr>
              <a:t>context.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099442"/>
            <a:ext cx="20088860" cy="534035"/>
            <a:chOff x="15706" y="1099442"/>
            <a:chExt cx="20088860" cy="5340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099442"/>
              <a:ext cx="20088393" cy="5340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099442"/>
              <a:ext cx="20088393" cy="53401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5183088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3141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50251" y="5117379"/>
            <a:ext cx="158813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FFFFFF"/>
                </a:solidFill>
                <a:latin typeface="Arial MT"/>
                <a:cs typeface="Arial MT"/>
              </a:rPr>
              <a:t>CALL-</a:t>
            </a:r>
            <a:r>
              <a:rPr dirty="0" sz="2700" spc="-25">
                <a:solidFill>
                  <a:srgbClr val="FFFFFF"/>
                </a:solidFill>
                <a:latin typeface="Arial MT"/>
                <a:cs typeface="Arial MT"/>
              </a:rPr>
              <a:t>001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4798" y="5117379"/>
            <a:ext cx="112712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0">
                <a:solidFill>
                  <a:srgbClr val="FFFFFF"/>
                </a:solidFill>
                <a:latin typeface="Arial MT"/>
                <a:cs typeface="Arial MT"/>
              </a:rPr>
              <a:t>Closed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1046" y="5101018"/>
            <a:ext cx="214566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Wi-Fi</a:t>
            </a:r>
            <a:r>
              <a:rPr dirty="0" sz="28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Module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12919" y="5101018"/>
            <a:ext cx="261302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Closed</a:t>
            </a:r>
            <a:r>
              <a:rPr dirty="0" sz="28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(Perfect)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706" y="6235412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3141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49436" y="6153342"/>
            <a:ext cx="163004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CALL-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003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0184" y="6136981"/>
            <a:ext cx="110807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55">
                <a:solidFill>
                  <a:srgbClr val="FFFFFF"/>
                </a:solidFill>
                <a:latin typeface="Arial MT"/>
                <a:cs typeface="Arial MT"/>
              </a:rPr>
              <a:t>Urgent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83373" y="6153342"/>
            <a:ext cx="268859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Door</a:t>
            </a:r>
            <a:r>
              <a:rPr dirty="0" sz="28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Lock</a:t>
            </a:r>
            <a:r>
              <a:rPr dirty="0" sz="28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Stuck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09118" y="6136981"/>
            <a:ext cx="260413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Urgent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(Perfect)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706" y="7287736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3141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250251" y="7222027"/>
            <a:ext cx="161861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FFFFFF"/>
                </a:solidFill>
                <a:latin typeface="Arial MT"/>
                <a:cs typeface="Arial MT"/>
              </a:rPr>
              <a:t>CALL-</a:t>
            </a:r>
            <a:r>
              <a:rPr dirty="0" sz="2700" spc="-25">
                <a:solidFill>
                  <a:srgbClr val="FFFFFF"/>
                </a:solidFill>
                <a:latin typeface="Arial MT"/>
                <a:cs typeface="Arial MT"/>
              </a:rPr>
              <a:t>005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61471" y="7205666"/>
            <a:ext cx="111506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Urgent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82321" y="7205666"/>
            <a:ext cx="318389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Hotel</a:t>
            </a:r>
            <a:r>
              <a:rPr dirty="0" sz="28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dirty="0" sz="28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Down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09118" y="7189306"/>
            <a:ext cx="260413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Urgent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(Perfect)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706" y="8340059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3141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249436" y="8257990"/>
            <a:ext cx="163004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CALL-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006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62929" y="8225269"/>
            <a:ext cx="870585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-275">
                <a:solidFill>
                  <a:srgbClr val="FFFFFF"/>
                </a:solidFill>
                <a:latin typeface="Arial MT"/>
                <a:cs typeface="Arial MT"/>
              </a:rPr>
              <a:t>Open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95986" y="8241629"/>
            <a:ext cx="249174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85">
                <a:solidFill>
                  <a:srgbClr val="FFFFFF"/>
                </a:solidFill>
                <a:latin typeface="Arial MT"/>
                <a:cs typeface="Arial MT"/>
              </a:rPr>
              <a:t>App</a:t>
            </a:r>
            <a:r>
              <a:rPr dirty="0" sz="295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Scene</a:t>
            </a:r>
            <a:r>
              <a:rPr dirty="0" sz="295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5">
                <a:solidFill>
                  <a:srgbClr val="FFFFFF"/>
                </a:solidFill>
                <a:latin typeface="Arial MT"/>
                <a:cs typeface="Arial MT"/>
              </a:rPr>
              <a:t>Bug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112653" y="8241629"/>
            <a:ext cx="236474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60">
                <a:solidFill>
                  <a:srgbClr val="FFFFFF"/>
                </a:solidFill>
                <a:latin typeface="Arial MT"/>
                <a:cs typeface="Arial MT"/>
              </a:rPr>
              <a:t>Open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(Perfect)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099442"/>
            <a:ext cx="20088860" cy="534035"/>
            <a:chOff x="15706" y="1099442"/>
            <a:chExt cx="20088860" cy="5340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099442"/>
              <a:ext cx="20088393" cy="5340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099442"/>
              <a:ext cx="20088393" cy="53401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7476211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92315" y="7361421"/>
            <a:ext cx="204597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dirty="0" sz="31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5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6439" y="7377782"/>
            <a:ext cx="186245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14">
                <a:solidFill>
                  <a:srgbClr val="FFFFFF"/>
                </a:solidFill>
                <a:latin typeface="Arial MT"/>
                <a:cs typeface="Arial MT"/>
              </a:rPr>
              <a:t>Transcript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55169" y="7361421"/>
            <a:ext cx="1331595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40">
                <a:solidFill>
                  <a:srgbClr val="FFFFFF"/>
                </a:solidFill>
                <a:latin typeface="Arial MT"/>
                <a:cs typeface="Arial MT"/>
              </a:rPr>
              <a:t>Sorting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98895" y="7361421"/>
            <a:ext cx="1160145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Action</a:t>
            </a:r>
            <a:endParaRPr sz="3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706" y="8088758"/>
            <a:ext cx="20088860" cy="393065"/>
            <a:chOff x="15706" y="8088758"/>
            <a:chExt cx="20088860" cy="39306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53446" y="8088758"/>
              <a:ext cx="4209295" cy="17276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55492" y="8324353"/>
              <a:ext cx="2607250" cy="942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1807" y="8135877"/>
              <a:ext cx="5528627" cy="3455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65893" y="8104465"/>
              <a:ext cx="4429184" cy="31412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8088758"/>
              <a:ext cx="20088393" cy="3926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2026-05-30T07:13:22Z</dcterms:created>
  <dcterms:modified xsi:type="dcterms:W3CDTF">2026-05-30T07:13:22Z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2026-05-29T00:00:00Z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2026-05-29T00:00:00Z</vt:filetime>
  </property>
</Properties>
</file>